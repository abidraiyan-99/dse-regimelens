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9098280" y="4663440"/>
            <a:ext cx="457200" cy="594360"/>
          </a:xfrm>
          <a:prstGeom prst="line">
            <a:avLst/>
          </a:prstGeom>
          <a:ln w="30480">
            <a:solidFill>
              <a:srgbClr val="21C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555480" y="4663440"/>
            <a:ext cx="457200" cy="228600"/>
          </a:xfrm>
          <a:prstGeom prst="line">
            <a:avLst/>
          </a:prstGeom>
          <a:ln w="30480">
            <a:solidFill>
              <a:srgbClr val="21C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0012680" y="3840480"/>
            <a:ext cx="457200" cy="1051560"/>
          </a:xfrm>
          <a:prstGeom prst="line">
            <a:avLst/>
          </a:prstGeom>
          <a:ln w="30480">
            <a:solidFill>
              <a:srgbClr val="21C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69880" y="3840480"/>
            <a:ext cx="457200" cy="320040"/>
          </a:xfrm>
          <a:prstGeom prst="line">
            <a:avLst/>
          </a:prstGeom>
          <a:ln w="30480">
            <a:solidFill>
              <a:srgbClr val="21C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927080" y="2971800"/>
            <a:ext cx="457200" cy="1188720"/>
          </a:xfrm>
          <a:prstGeom prst="line">
            <a:avLst/>
          </a:prstGeom>
          <a:ln w="30480">
            <a:solidFill>
              <a:srgbClr val="21C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384280" y="2468880"/>
            <a:ext cx="457200" cy="502920"/>
          </a:xfrm>
          <a:prstGeom prst="line">
            <a:avLst/>
          </a:prstGeom>
          <a:ln w="30480">
            <a:solidFill>
              <a:srgbClr val="21C9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047988" y="5207508"/>
            <a:ext cx="100584" cy="100584"/>
          </a:xfrm>
          <a:prstGeom prst="ellipse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5188" y="4613148"/>
            <a:ext cx="100584" cy="100584"/>
          </a:xfrm>
          <a:prstGeom prst="ellipse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62388" y="4841748"/>
            <a:ext cx="100584" cy="100584"/>
          </a:xfrm>
          <a:prstGeom prst="ellipse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9588" y="3790188"/>
            <a:ext cx="100584" cy="100584"/>
          </a:xfrm>
          <a:prstGeom prst="ellipse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76788" y="4110228"/>
            <a:ext cx="100584" cy="100584"/>
          </a:xfrm>
          <a:prstGeom prst="ellipse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33988" y="2921508"/>
            <a:ext cx="100584" cy="100584"/>
          </a:xfrm>
          <a:prstGeom prst="ellipse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791188" y="2418588"/>
            <a:ext cx="100584" cy="100584"/>
          </a:xfrm>
          <a:prstGeom prst="ellipse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66928"/>
            <a:ext cx="5943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C9B2"/>
                </a:solidFill>
                <a:latin typeface="Aptos"/>
              </a:rPr>
              <a:t>RESEARCH PROJECT  •  DSE MARKET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298448"/>
            <a:ext cx="77724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5F8FC"/>
                </a:solidFill>
                <a:latin typeface="Aptos"/>
              </a:rPr>
              <a:t>DSE-RegimeLens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2176272"/>
            <a:ext cx="768096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F8FC"/>
                </a:solidFill>
                <a:latin typeface="Aptos"/>
              </a:rPr>
              <a:t>Classifying Bullish, Neutral, and Bearish Market Regimes in the Dhaka Stock Exchange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3182112"/>
            <a:ext cx="740664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6B5C8"/>
                </a:solidFill>
                <a:latin typeface="Aptos"/>
              </a:rPr>
              <a:t>A Machine-Learning Evaluation Using Historical OHLCV Data and a Persistence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4160520"/>
            <a:ext cx="2148840" cy="41148"/>
          </a:xfrm>
          <a:prstGeom prst="rect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498848"/>
            <a:ext cx="20574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1C9B2"/>
                </a:solidFill>
                <a:latin typeface="Aptos"/>
              </a:rPr>
              <a:t>93.50%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5010912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B5C8"/>
                </a:solidFill>
                <a:latin typeface="Aptos"/>
              </a:rPr>
              <a:t>Main model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6663" y="4498848"/>
            <a:ext cx="20574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DCDE7"/>
                </a:solidFill>
                <a:latin typeface="Aptos"/>
              </a:rPr>
              <a:t>862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6663" y="5010912"/>
            <a:ext cx="2148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B5C8"/>
                </a:solidFill>
                <a:latin typeface="Aptos"/>
              </a:rPr>
              <a:t>Test observations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5989320"/>
            <a:ext cx="6035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Presenter: Abid Raiyan Ayon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245352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5C8"/>
                </a:solidFill>
                <a:latin typeface="Aptos"/>
              </a:rPr>
              <a:t>DHAKA STOCK EXCHANGE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C9B2"/>
                </a:solidFill>
                <a:latin typeface="Aptos"/>
              </a:rPr>
              <a:t>01 • RESEARCH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Introduction &amp; 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85800" cy="41148"/>
          </a:xfrm>
          <a:prstGeom prst="rect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02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5C8"/>
                </a:solidFill>
                <a:latin typeface="Aptos"/>
              </a:rPr>
              <a:t>DSE-REGIMELENS  •  HISTORICAL OHLCV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08760"/>
            <a:ext cx="5486400" cy="4526280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55648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C9B2"/>
                </a:solidFill>
                <a:latin typeface="Aptos"/>
              </a:rPr>
              <a:t>BACKGROUND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331720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240280"/>
            <a:ext cx="455371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Financial markets shift with changing prices, trading volumes, and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090672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999232"/>
            <a:ext cx="455371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Machine learning can identify patterns in historical financial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849624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3758184"/>
            <a:ext cx="455371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The DSE offers a relevant setting for studying market behaviour in Bangladesh.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608575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4517136"/>
            <a:ext cx="455371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High accuracy can be misleading when one class dominates the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08760"/>
            <a:ext cx="5394960" cy="4526280"/>
          </a:xfrm>
          <a:prstGeom prst="roundRect">
            <a:avLst>
              <a:gd name="adj" fmla="val 12000"/>
            </a:avLst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755648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DCDE7"/>
                </a:solidFill>
                <a:latin typeface="Aptos"/>
              </a:rPr>
              <a:t>RESEARCH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57984"/>
            <a:ext cx="466344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8FC"/>
                </a:solidFill>
                <a:latin typeface="Aptos"/>
              </a:rPr>
              <a:t>Can historical price- and volume-derived features classify the next five-observation movement of DSE stocks?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29000"/>
            <a:ext cx="4663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C9B2"/>
                </a:solidFill>
                <a:latin typeface="Aptos"/>
              </a:rPr>
              <a:t>OBJECTIVES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3913631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3822191"/>
            <a:ext cx="44622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Build a three-class regime-classification experiment.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5392" y="4389119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59" y="4297679"/>
            <a:ext cx="44622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Evaluate a machine-learning classifier on historical DSE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4864607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4773168"/>
            <a:ext cx="44622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Compare against a persistence baseline.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5340096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5248656"/>
            <a:ext cx="44622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Examine class imbalance and minority-class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C9B2"/>
                </a:solidFill>
                <a:latin typeface="Aptos"/>
              </a:rPr>
              <a:t>02 •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Dataset &amp; Target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85800" cy="41148"/>
          </a:xfrm>
          <a:prstGeom prst="rect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03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5C8"/>
                </a:solidFill>
                <a:latin typeface="Aptos"/>
              </a:rPr>
              <a:t>DSE-REGIMELENS  •  HISTORICAL OHLCV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81328"/>
            <a:ext cx="2514600" cy="1353312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54864" cy="1353312"/>
          </a:xfrm>
          <a:prstGeom prst="rect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21671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1C9B2"/>
                </a:solidFill>
                <a:latin typeface="Aptos"/>
              </a:rPr>
              <a:t>1.52M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39696"/>
            <a:ext cx="21671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Rows before 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481328"/>
            <a:ext cx="2514600" cy="1353312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81328"/>
            <a:ext cx="54864" cy="1353312"/>
          </a:xfrm>
          <a:prstGeom prst="rect">
            <a:avLst/>
          </a:prstGeom>
          <a:solidFill>
            <a:srgbClr val="5D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645920"/>
            <a:ext cx="21671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5DCDE7"/>
                </a:solidFill>
                <a:latin typeface="Aptos"/>
              </a:rPr>
              <a:t>534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139696"/>
            <a:ext cx="21671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Distinct trading codes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481328"/>
            <a:ext cx="2514600" cy="1353312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481328"/>
            <a:ext cx="54864" cy="1353312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645920"/>
            <a:ext cx="21671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B347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139696"/>
            <a:ext cx="21671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Data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481328"/>
            <a:ext cx="2788920" cy="1353312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1080" y="1481328"/>
            <a:ext cx="54864" cy="1353312"/>
          </a:xfrm>
          <a:prstGeom prst="rect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42248" y="1645920"/>
            <a:ext cx="24414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1C9B2"/>
                </a:solidFill>
                <a:latin typeface="Aptos"/>
              </a:rPr>
              <a:t>1999–2025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2139696"/>
            <a:ext cx="24414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Date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127248"/>
            <a:ext cx="5532120" cy="2670048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64992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C9B2"/>
                </a:solidFill>
                <a:latin typeface="Aptos"/>
              </a:rPr>
              <a:t>SOURCE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94760"/>
            <a:ext cx="48463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Trading_Code • Date • Open • High • Low • Close • Volume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90872"/>
            <a:ext cx="489204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5C8"/>
                </a:solidFill>
                <a:latin typeface="Aptos"/>
              </a:rPr>
              <a:t>Data checks: duplicate stock-date records, invalid OHLC values, non-positive prices, and two missing volume values.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127248"/>
            <a:ext cx="5303520" cy="2670048"/>
          </a:xfrm>
          <a:prstGeom prst="roundRect">
            <a:avLst>
              <a:gd name="adj" fmla="val 12000"/>
            </a:avLst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364992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DCDE7"/>
                </a:solidFill>
                <a:latin typeface="Aptos"/>
              </a:rPr>
              <a:t>THREE-CLASS 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01968" y="3840480"/>
            <a:ext cx="1298448" cy="384048"/>
          </a:xfrm>
          <a:prstGeom prst="roundRect">
            <a:avLst>
              <a:gd name="adj" fmla="val 12000"/>
            </a:avLst>
          </a:prstGeom>
          <a:solidFill>
            <a:srgbClr val="66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3904488"/>
            <a:ext cx="12070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192D"/>
                </a:solidFill>
                <a:latin typeface="Aptos"/>
              </a:rPr>
              <a:t>BULLISH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3895344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Forward move &gt; +2%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01968" y="4398264"/>
            <a:ext cx="1298448" cy="384048"/>
          </a:xfrm>
          <a:prstGeom prst="roundRect">
            <a:avLst>
              <a:gd name="adj" fmla="val 12000"/>
            </a:avLst>
          </a:prstGeom>
          <a:solidFill>
            <a:srgbClr val="5D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4462272"/>
            <a:ext cx="12070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192D"/>
                </a:solidFill>
                <a:latin typeface="Aptos"/>
              </a:rPr>
              <a:t>NEUTRAL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4453128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Between thresholds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01968" y="4956048"/>
            <a:ext cx="1298448" cy="384048"/>
          </a:xfrm>
          <a:prstGeom prst="roundRect">
            <a:avLst>
              <a:gd name="adj" fmla="val 12000"/>
            </a:avLst>
          </a:prstGeom>
          <a:solidFill>
            <a:srgbClr val="F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7688" y="5020056"/>
            <a:ext cx="12070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192D"/>
                </a:solidFill>
                <a:latin typeface="Aptos"/>
              </a:rPr>
              <a:t>BEARISH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5010912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Forward move &lt; −2%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5532120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Horizon: next five observations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053328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B347"/>
                </a:solidFill>
                <a:latin typeface="Aptos"/>
              </a:rPr>
              <a:t>Verification note: confirm the exact forward-target calculation in the executed notebook.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C9B2"/>
                </a:solidFill>
                <a:latin typeface="Aptos"/>
              </a:rPr>
              <a:t>03 • 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Methodology &amp; Evaluation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85800" cy="41148"/>
          </a:xfrm>
          <a:prstGeom prst="rect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5C8"/>
                </a:solidFill>
                <a:latin typeface="Aptos"/>
              </a:rPr>
              <a:t>DSE-REGIMELENS  •  HISTORICAL OHLCV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4937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C9B2"/>
                </a:solidFill>
                <a:latin typeface="Aptos"/>
              </a:rPr>
              <a:t>FEATURE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01952"/>
            <a:ext cx="4983480" cy="658368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1C9B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02536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Returns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011680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5C8"/>
                </a:solidFill>
                <a:latin typeface="Aptos"/>
              </a:rPr>
              <a:t>Multiple observation windows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34056"/>
            <a:ext cx="4983480" cy="658368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87121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1C9B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34640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Rolling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843784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5C8"/>
                </a:solidFill>
                <a:latin typeface="Aptos"/>
              </a:rPr>
              <a:t>Historical price variability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66160"/>
            <a:ext cx="4983480" cy="658368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703320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1C9B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666744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Moving-average relations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3675888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5C8"/>
                </a:solidFill>
                <a:latin typeface="Aptos"/>
              </a:rPr>
              <a:t>Close vs. rolling averages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398264"/>
            <a:ext cx="4983480" cy="658368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535424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1C9B2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498848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Relative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4507992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5C8"/>
                </a:solidFill>
                <a:latin typeface="Aptos"/>
              </a:rPr>
              <a:t>Volume vs. historical levels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1481328"/>
            <a:ext cx="5394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DCDE7"/>
                </a:solidFill>
                <a:latin typeface="Aptos"/>
              </a:rPr>
              <a:t>EXPERIMENTAL WORKFLOW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1901952"/>
            <a:ext cx="5486400" cy="658368"/>
          </a:xfrm>
          <a:prstGeom prst="roundRect">
            <a:avLst>
              <a:gd name="adj" fmla="val 12000"/>
            </a:avLst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4496" y="2039112"/>
            <a:ext cx="420624" cy="384048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2784" y="2130552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192D"/>
                </a:solidFill>
                <a:latin typeface="Aptos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002536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Historical OHLCV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01168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5C8"/>
                </a:solidFill>
                <a:latin typeface="Aptos"/>
              </a:rPr>
              <a:t>Collect and inspect stock-level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2734056"/>
            <a:ext cx="5486400" cy="658368"/>
          </a:xfrm>
          <a:prstGeom prst="roundRect">
            <a:avLst>
              <a:gd name="adj" fmla="val 12000"/>
            </a:avLst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54496" y="2871216"/>
            <a:ext cx="420624" cy="384048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2784" y="2962656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192D"/>
                </a:solidFill>
                <a:latin typeface="Apto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2834640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Cleaning &amp;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843784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5C8"/>
                </a:solidFill>
                <a:latin typeface="Aptos"/>
              </a:rPr>
              <a:t>Address data quality; derive 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3566160"/>
            <a:ext cx="5486400" cy="658368"/>
          </a:xfrm>
          <a:prstGeom prst="roundRect">
            <a:avLst>
              <a:gd name="adj" fmla="val 12000"/>
            </a:avLst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54496" y="3703320"/>
            <a:ext cx="420624" cy="384048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72784" y="3794760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192D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666744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Three-class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675888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5C8"/>
                </a:solidFill>
                <a:latin typeface="Aptos"/>
              </a:rPr>
              <a:t>Label bullish, neutral, bearish movement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4398264"/>
            <a:ext cx="5486400" cy="658368"/>
          </a:xfrm>
          <a:prstGeom prst="roundRect">
            <a:avLst>
              <a:gd name="adj" fmla="val 12000"/>
            </a:avLst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54496" y="4535424"/>
            <a:ext cx="420624" cy="384048"/>
          </a:xfrm>
          <a:prstGeom prst="roundRect">
            <a:avLst>
              <a:gd name="adj" fmla="val 12000"/>
            </a:avLst>
          </a:prstGeom>
          <a:solidFill>
            <a:srgbClr val="5D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2784" y="4626864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192D"/>
                </a:solidFill>
                <a:latin typeface="Aptos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498848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Model 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4507992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5C8"/>
                </a:solidFill>
                <a:latin typeface="Aptos"/>
              </a:rPr>
              <a:t>Accuracy, macro F1, classification errors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5440680"/>
            <a:ext cx="10972800" cy="576072"/>
          </a:xfrm>
          <a:prstGeom prst="rect">
            <a:avLst/>
          </a:prstGeom>
          <a:solidFill>
            <a:srgbClr val="30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596128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347"/>
                </a:solidFill>
                <a:latin typeface="Aptos"/>
              </a:rPr>
              <a:t>Validity checks: chronological splitting • prevent future-data leakage • compare with persistence 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C9B2"/>
                </a:solidFill>
                <a:latin typeface="Aptos"/>
              </a:rPr>
              <a:t>04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Results &amp;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85800" cy="41148"/>
          </a:xfrm>
          <a:prstGeom prst="rect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05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5C8"/>
                </a:solidFill>
                <a:latin typeface="Aptos"/>
              </a:rPr>
              <a:t>DSE-REGIMELENS  •  HISTORICAL OHLCV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719072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B5C8"/>
                </a:solidFill>
                <a:latin typeface="Aptos"/>
              </a:rPr>
              <a:t>MAIN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029968"/>
            <a:ext cx="2743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1C9B2"/>
                </a:solidFill>
                <a:latin typeface="Aptos"/>
              </a:rPr>
              <a:t>93.50%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51460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08760"/>
            <a:ext cx="3246120" cy="1417320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719072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B5C8"/>
                </a:solidFill>
                <a:latin typeface="Aptos"/>
              </a:rPr>
              <a:t>PERSISTENCE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2029968"/>
            <a:ext cx="27432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DCDE7"/>
                </a:solidFill>
                <a:latin typeface="Aptos"/>
              </a:rPr>
              <a:t>94.55%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51460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508760"/>
            <a:ext cx="3840480" cy="1417320"/>
          </a:xfrm>
          <a:prstGeom prst="roundRect">
            <a:avLst>
              <a:gd name="adj" fmla="val 12000"/>
            </a:avLst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719072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B5C8"/>
                </a:solidFill>
                <a:latin typeface="Aptos"/>
              </a:rPr>
              <a:t>BASELINE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029968"/>
            <a:ext cx="3108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B347"/>
                </a:solidFill>
                <a:latin typeface="Aptos"/>
              </a:rPr>
              <a:t>+1.05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14600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Higher accuracy than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246120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C9B2"/>
                </a:solidFill>
                <a:latin typeface="Aptos"/>
              </a:rPr>
              <a:t>TEST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75887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Main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703320"/>
            <a:ext cx="4572000" cy="228600"/>
          </a:xfrm>
          <a:prstGeom prst="rect">
            <a:avLst/>
          </a:prstGeom>
          <a:solidFill>
            <a:srgbClr val="3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703320"/>
            <a:ext cx="4274820" cy="228600"/>
          </a:xfrm>
          <a:prstGeom prst="rect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3657599"/>
            <a:ext cx="914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C9B2"/>
                </a:solidFill>
                <a:latin typeface="Aptos"/>
              </a:rPr>
              <a:t>93.50%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34255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Persistence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361688"/>
            <a:ext cx="4572000" cy="228600"/>
          </a:xfrm>
          <a:prstGeom prst="rect">
            <a:avLst/>
          </a:prstGeom>
          <a:solidFill>
            <a:srgbClr val="3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4361688"/>
            <a:ext cx="4322826" cy="228600"/>
          </a:xfrm>
          <a:prstGeom prst="rect">
            <a:avLst/>
          </a:prstGeom>
          <a:solidFill>
            <a:srgbClr val="5D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4315968"/>
            <a:ext cx="914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DCDE7"/>
                </a:solidFill>
                <a:latin typeface="Aptos"/>
              </a:rPr>
              <a:t>94.55%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3246120"/>
            <a:ext cx="2880360" cy="1874519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33688" y="3474720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B5C8"/>
                </a:solidFill>
                <a:latin typeface="Aptos"/>
              </a:rPr>
              <a:t>MACRO F1-SCORE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3688" y="3858768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C9B2"/>
                </a:solidFill>
                <a:latin typeface="Aptos"/>
              </a:rPr>
              <a:t>Model   0.4876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3688" y="4279392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DCDE7"/>
                </a:solidFill>
                <a:latin typeface="Aptos"/>
              </a:rPr>
              <a:t>Baseline 0.5669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57800"/>
            <a:ext cx="10789920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Finding: the persistence baseline outperformed the main model on both reported metrics. Accuracy alone does not establish useful prediction.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916168"/>
            <a:ext cx="10789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B347"/>
                </a:solidFill>
                <a:latin typeface="Aptos"/>
              </a:rPr>
              <a:t>Interpret results cautiously until target construction, chronological splitting, and leakage controls are verified.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C9B2"/>
                </a:solidFill>
                <a:latin typeface="Aptos"/>
              </a:rPr>
              <a:t>05 •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Class Imbalance &amp; Error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85800" cy="41148"/>
          </a:xfrm>
          <a:prstGeom prst="rect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06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5C8"/>
                </a:solidFill>
                <a:latin typeface="Aptos"/>
              </a:rPr>
              <a:t>DSE-REGIMELENS  •  HISTORICAL OHLCV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C9B2"/>
                </a:solidFill>
                <a:latin typeface="Aptos"/>
              </a:rPr>
              <a:t>ACTUAL TEST-SET DISTRIBUTION (n = 862)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47088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Neutral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1865376"/>
            <a:ext cx="2743200" cy="219456"/>
          </a:xfrm>
          <a:prstGeom prst="rect">
            <a:avLst/>
          </a:prstGeom>
          <a:solidFill>
            <a:srgbClr val="3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83080" y="1865376"/>
            <a:ext cx="2603296" cy="219456"/>
          </a:xfrm>
          <a:prstGeom prst="rect">
            <a:avLst/>
          </a:prstGeom>
          <a:solidFill>
            <a:srgbClr val="5DC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CDE7"/>
                </a:solidFill>
                <a:latin typeface="Aptos"/>
              </a:rPr>
              <a:t>818 (94.90%)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32888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Bullish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2551176"/>
            <a:ext cx="2743200" cy="219456"/>
          </a:xfrm>
          <a:prstGeom prst="rect">
            <a:avLst/>
          </a:prstGeom>
          <a:solidFill>
            <a:srgbClr val="3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3080" y="2551176"/>
            <a:ext cx="95463" cy="219456"/>
          </a:xfrm>
          <a:prstGeom prst="rect">
            <a:avLst/>
          </a:prstGeom>
          <a:solidFill>
            <a:srgbClr val="66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DCA6"/>
                </a:solidFill>
                <a:latin typeface="Aptos"/>
              </a:rPr>
              <a:t>30 (3.48%)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18688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Bearish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3080" y="3236976"/>
            <a:ext cx="2743200" cy="219456"/>
          </a:xfrm>
          <a:prstGeom prst="rect">
            <a:avLst/>
          </a:prstGeom>
          <a:solidFill>
            <a:srgbClr val="3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83080" y="3236976"/>
            <a:ext cx="44439" cy="219456"/>
          </a:xfrm>
          <a:prstGeom prst="rect">
            <a:avLst/>
          </a:prstGeom>
          <a:solidFill>
            <a:srgbClr val="F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20040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6969"/>
                </a:solidFill>
                <a:latin typeface="Aptos"/>
              </a:rPr>
              <a:t>14 (1.62%)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444752"/>
            <a:ext cx="5760720" cy="2487168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1645920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1C9B2"/>
                </a:solidFill>
                <a:latin typeface="Aptos"/>
              </a:rPr>
              <a:t>MAIN MODEL • PER-CLASS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02996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02996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02996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02996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2395728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6DCA6"/>
                </a:solidFill>
                <a:latin typeface="Aptos"/>
              </a:rPr>
              <a:t>Bullish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395728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0.2500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395728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0.2667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395728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0.2581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2825496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DCDE7"/>
                </a:solidFill>
                <a:latin typeface="Aptos"/>
              </a:rPr>
              <a:t>Neutral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825496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0.9815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825496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0.9707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825496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0.9760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3328" y="3255264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969"/>
                </a:solidFill>
                <a:latin typeface="Aptos"/>
              </a:rPr>
              <a:t>Bearish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255264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0.1905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255264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0.2857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55264"/>
            <a:ext cx="11430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8FC"/>
                </a:solidFill>
                <a:latin typeface="Aptos"/>
              </a:rPr>
              <a:t>0.2286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133087"/>
            <a:ext cx="5486400" cy="1664208"/>
          </a:xfrm>
          <a:prstGeom prst="roundRect">
            <a:avLst>
              <a:gd name="adj" fmla="val 12000"/>
            </a:avLst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4315968"/>
            <a:ext cx="50292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DCDE7"/>
                </a:solidFill>
                <a:latin typeface="Aptos"/>
              </a:rPr>
              <a:t>CONFUSION MATRIX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645152"/>
            <a:ext cx="48463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Actual \ Predicted     Bullish      Neutral      Bearish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937760"/>
            <a:ext cx="49377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Bullish            8           11          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166360"/>
            <a:ext cx="49377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Neutral           18          794           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394960"/>
            <a:ext cx="49377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8FC"/>
                </a:solidFill>
                <a:latin typeface="Aptos"/>
              </a:rPr>
              <a:t>Bearish            6            4            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4133087"/>
            <a:ext cx="5212080" cy="1664208"/>
          </a:xfrm>
          <a:prstGeom prst="roundRect">
            <a:avLst>
              <a:gd name="adj" fmla="val 12000"/>
            </a:avLst>
          </a:prstGeom>
          <a:solidFill>
            <a:srgbClr val="30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4343400"/>
            <a:ext cx="4663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347"/>
                </a:solidFill>
                <a:latin typeface="Aptos"/>
              </a:rPr>
              <a:t>INTERPRETATION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29400" y="4800600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30568" y="4709160"/>
            <a:ext cx="43708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794 neutral observations correctly classified.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9400" y="5193792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30568" y="5102352"/>
            <a:ext cx="437083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Only 8 bullish and 4 bearish correctly classified.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035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347"/>
                </a:solidFill>
                <a:latin typeface="Aptos"/>
              </a:rPr>
              <a:t>The neutral majority inflates accuracy; minority-class performance is weak.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C9B2"/>
                </a:solidFill>
                <a:latin typeface="Aptos"/>
              </a:rPr>
              <a:t>06 • NEXT STEPS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Future Work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685800" cy="41148"/>
          </a:xfrm>
          <a:prstGeom prst="rect">
            <a:avLst/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B5C8"/>
                </a:solidFill>
                <a:latin typeface="Aptos"/>
              </a:rPr>
              <a:t>07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6B5C8"/>
                </a:solidFill>
                <a:latin typeface="Aptos"/>
              </a:rPr>
              <a:t>DSE-REGIMELENS  •  HISTORICAL OHLCV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486400" cy="3246120"/>
          </a:xfrm>
          <a:prstGeom prst="roundRect">
            <a:avLst>
              <a:gd name="adj" fmla="val 12000"/>
            </a:avLst>
          </a:prstGeom>
          <a:solidFill>
            <a:srgbClr val="1A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C9B2"/>
                </a:solidFill>
                <a:latin typeface="Aptos"/>
              </a:rPr>
              <a:t>FUTURE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" y="2267712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76272"/>
            <a:ext cx="45537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Test class-weighted and other imbalance-aware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2715768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24328"/>
            <a:ext cx="45537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Compare alternative target thresholds.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3163824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072384"/>
            <a:ext cx="45537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Evaluate across multiple chronological test periods.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" y="3611879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520439"/>
            <a:ext cx="45537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Report per-class metrics and confusion matrices per period.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4059935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968496"/>
            <a:ext cx="45537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Study transaction costs separately before making trading claims.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81328"/>
            <a:ext cx="5303520" cy="3246120"/>
          </a:xfrm>
          <a:prstGeom prst="roundRect">
            <a:avLst>
              <a:gd name="adj" fmla="val 12000"/>
            </a:avLst>
          </a:prstGeom>
          <a:solidFill>
            <a:srgbClr val="14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4572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DCDE7"/>
                </a:solidFill>
                <a:latin typeface="Aptos"/>
              </a:rPr>
              <a:t>CONCLUSION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01968" y="2267712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2176272"/>
            <a:ext cx="43708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The experiment assessed three-class regime classification from historical DSE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28346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6" y="2743200"/>
            <a:ext cx="43708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Main model: 93.50% accuracy; macro F1 = 0.4876.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1968" y="3401568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3136" y="3310128"/>
            <a:ext cx="43708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Persistence baseline: 94.55% accuracy; macro F1 = 0.5669.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1968" y="3968496"/>
            <a:ext cx="82296" cy="82296"/>
          </a:xfrm>
          <a:prstGeom prst="roundRect">
            <a:avLst>
              <a:gd name="adj" fmla="val 12000"/>
            </a:avLst>
          </a:prstGeom>
          <a:solidFill>
            <a:srgbClr val="21C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3136" y="3877056"/>
            <a:ext cx="43708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Neither result establishes reliable market prediction or trading profitability.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956048"/>
            <a:ext cx="11045952" cy="1243584"/>
          </a:xfrm>
          <a:prstGeom prst="roundRect">
            <a:avLst>
              <a:gd name="adj" fmla="val 12000"/>
            </a:avLst>
          </a:prstGeom>
          <a:solidFill>
            <a:srgbClr val="24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138928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C9B2"/>
                </a:solidFill>
                <a:latin typeface="Aptos"/>
              </a:rPr>
              <a:t>SELECTED REFERENCES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58968"/>
            <a:ext cx="104241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6B5C8"/>
                </a:solidFill>
                <a:latin typeface="Aptos"/>
              </a:rPr>
              <a:t>Gu, Kelly &amp; Xiu (2020), Empirical Asset Pricing via Machine Learning, Review of Financial Studies. DOI: 10.1093/rfs/hhaa009
David (2019), Financial prediction using machine-learning methods. DOI: 10.3233/AF-190900 (bibliographic details to verify).
Discover AI (2026), An Interpretable ML Framework for Predicting Next-Day Firm-Level Market Stress in the DSE. DOI: 10.1007/s44163-026-02065-7 (verify authors/details).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309360"/>
            <a:ext cx="104241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FFB347"/>
                </a:solidFill>
                <a:latin typeface="Aptos"/>
              </a:rPr>
              <a:t>Before submission: verify target calculation, chronological split protocol, and reference metadata.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DSE-RegimeLens: Classifying Market Regimes in the Dhaka Stock Exchange</dc:title>
  <dc:subject>Research presentation on DSE OHLCV machine-learning evaluation</dc:subject>
  <dc:creator>Abid Raiyan Ayon</dc:creator>
  <cp:keywords>DSE, machine learning, market regimes, OHLCV, class imbalance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